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64" r:id="rId5"/>
    <p:sldId id="259" r:id="rId6"/>
    <p:sldId id="260" r:id="rId7"/>
    <p:sldId id="265" r:id="rId8"/>
    <p:sldId id="261" r:id="rId9"/>
    <p:sldId id="266" r:id="rId10"/>
    <p:sldId id="262" r:id="rId11"/>
    <p:sldId id="263" r:id="rId1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142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957206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time: 15 seconds. Replace all bracketed placeholders and prompts with your own project details. Keep explanations brief. Total time across slides 1–7 is 5 minutes, including the demonstration. Slide 8 is for reference during questions. Logo source: https://mitwpu.edu.in/uploads/images/MIT-WPU-logo-1.webp. Introduce only the title and team; do not read every PRN.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818516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time: 40 seconds. Replace all bracketed placeholders and prompts with your own project details. Keep explanations brief. Total time across slides 1–7 is 5 minutes, including the demonstration. Slide 8 is for reference during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616722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time: 45 seconds. Replace all bracketed placeholders and prompts with your own project details. Keep explanations brief. Total time across slides 1–7 is 5 minutes, including the demonstration. Slide 8 is for reference during questions. Explain the diagram and only the most relevant design decisions. Use an actual project diagram with readable labels.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08311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time: 55 seconds. Replace all bracketed placeholders and prompts with your own project details. Keep explanations brief. Total time across slides 1–7 is 5 minutes, including the demonstration. Slide 8 is for reference during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09434379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time: 50 seconds. Replace all bracketed placeholders and prompts with your own project details. Keep explanations brief. Total time across slides 1–7 is 5 minutes, including the demonstration. Slide 8 is for reference during questions. Show actual evidence. Explain the output and mention any failed or partial tests. Do not invent performance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840329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time: 65 seconds. Replace all bracketed placeholders and prompts with your own project details. Keep explanations brief. Total time across slides 1–7 is 5 minutes, including the demonstration. Slide 8 is for reference during questions. Prepare the project before the timer starts. Keep the demo to about one minute. Keep a screenshot or short recording ready as a backup, and identify it as recorded evidence if used.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138800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time: 30 seconds. Replace all bracketed placeholders and prompts with your own project details. Keep explanations brief. Total time across slides 1–7 is 5 minutes, including the demonstration. Slide 8 is for reference during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991998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time: Backup slide. Replace all bracketed placeholders and prompts with your own project details. Keep explanations brief. Total time across slides 1–7 is 5 minutes, including the demonstration. Slide 8 is for reference during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59758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="" xmlns:a16="http://schemas.microsoft.com/office/drawing/2014/main" id="{583E6C0E-ADFD-47F0-B7F1-423099F44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590800"/>
            <a:ext cx="73152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="" xmlns:a16="http://schemas.microsoft.com/office/drawing/2014/main" id="{33EB337C-CD4A-4141-BBA0-4CF2780ADD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771900"/>
            <a:ext cx="64008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="" xmlns:a16="http://schemas.microsoft.com/office/drawing/2014/main" id="{E0CEB062-0151-4898-8FC4-ABE35F2CF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857500"/>
            <a:ext cx="73152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="" xmlns:a16="http://schemas.microsoft.com/office/drawing/2014/main" id="{6C25DF88-F753-4FDF-A6BB-A67DF0BF4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533400"/>
            <a:ext cx="81153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="" xmlns:a16="http://schemas.microsoft.com/office/drawing/2014/main" id="{D508D27C-B9C0-4675-8275-8B25BF40CA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1905000"/>
            <a:ext cx="81153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="" xmlns:a16="http://schemas.microsoft.com/office/drawing/2014/main" id="{700FAA36-2918-458A-BCC9-C02C5C86F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533400"/>
            <a:ext cx="81153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="" xmlns:a16="http://schemas.microsoft.com/office/drawing/2014/main" id="{B3166FA6-9A32-40D5-BFFD-76D047ADC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1905000"/>
            <a:ext cx="37719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="" xmlns:a16="http://schemas.microsoft.com/office/drawing/2014/main" id="{663F08DB-F5FB-439D-8043-D5B97093E1E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857750" y="1905000"/>
            <a:ext cx="37719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="" xmlns:a16="http://schemas.microsoft.com/office/drawing/2014/main" id="{43733861-E5E8-4C0E-85FF-C9C377F03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533400"/>
            <a:ext cx="81153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="" xmlns:a16="http://schemas.microsoft.com/office/drawing/2014/main" id="{D218B774-926B-4AA9-BD18-2D17BAA20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1905000"/>
            <a:ext cx="37719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="" xmlns:a16="http://schemas.microsoft.com/office/drawing/2014/main" id="{EF37A30E-D1A0-430A-8AA0-F979BB940400}"/>
              </a:ext>
            </a:extLst>
          </p:cNvPr>
          <p:cNvSpPr>
            <a:spLocks noGrp="1"/>
          </p:cNvSpPr>
          <p:nvPr/>
        </p:nvSpPr>
        <p:spPr>
          <a:xfrm>
            <a:off x="523875" y="1524000"/>
            <a:ext cx="8096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lang="en-IN" sz="2550" b="1" dirty="0" smtClean="0">
                <a:solidFill>
                  <a:srgbClr val="20375C"/>
                </a:solidFill>
                <a:latin typeface="Arial"/>
                <a:ea typeface="Arial"/>
                <a:cs typeface="Arial"/>
              </a:rPr>
              <a:t>Network Error Detection And Correction Toolkit</a:t>
            </a:r>
            <a:endParaRPr sz="2550" b="1" dirty="0">
              <a:solidFill>
                <a:srgbClr val="20375C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FB949E34-4B5B-4562-AC62-5E3AE182E6D9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3188D55E-1711-439B-B044-BD320AA1699C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 dirty="0">
                <a:solidFill>
                  <a:srgbClr val="555555"/>
                </a:solidFill>
                <a:latin typeface="Arial"/>
                <a:ea typeface="Arial"/>
                <a:cs typeface="Arial"/>
              </a:rPr>
              <a:t>15 seconds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="" xmlns:a16="http://schemas.microsoft.com/office/drawing/2014/main" id="{20500DC7-A09E-49E5-9BD7-7620F64528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16647" y="349624"/>
            <a:ext cx="3310706" cy="9525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218C27AC-3417-4BF8-804F-DF5A87976EC8}"/>
              </a:ext>
            </a:extLst>
          </p:cNvPr>
          <p:cNvSpPr>
            <a:spLocks noGrp="1"/>
          </p:cNvSpPr>
          <p:nvPr/>
        </p:nvSpPr>
        <p:spPr>
          <a:xfrm>
            <a:off x="523875" y="2667000"/>
            <a:ext cx="8096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Mini-project presentation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6626C341-1A4C-494A-8571-B519D932EFAE}"/>
              </a:ext>
            </a:extLst>
          </p:cNvPr>
          <p:cNvSpPr>
            <a:spLocks noGrp="1"/>
          </p:cNvSpPr>
          <p:nvPr/>
        </p:nvSpPr>
        <p:spPr>
          <a:xfrm>
            <a:off x="523875" y="31432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Computer Networks Laboratory (CSE20110)</a:t>
            </a:r>
          </a:p>
          <a:p>
            <a:pPr algn="ctr"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Department of Computer Engineering and Technology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45DF9F57-7481-43AF-90EA-1B438F83D4AC}"/>
              </a:ext>
            </a:extLst>
          </p:cNvPr>
          <p:cNvSpPr>
            <a:spLocks noGrp="1"/>
          </p:cNvSpPr>
          <p:nvPr/>
        </p:nvSpPr>
        <p:spPr>
          <a:xfrm>
            <a:off x="523875" y="4095750"/>
            <a:ext cx="8096250" cy="714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575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Vedant</a:t>
            </a:r>
            <a:r>
              <a:rPr lang="en-IN" sz="1575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575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Bhosale</a:t>
            </a:r>
            <a:r>
              <a:rPr lang="en-IN" sz="1575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- 1262251592</a:t>
            </a:r>
            <a:r>
              <a:rPr sz="1575" b="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    </a:t>
            </a:r>
            <a:r>
              <a:rPr lang="en-IN" sz="1575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Riya Das - 1262251596</a:t>
            </a:r>
            <a:endParaRPr sz="1575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algn="ctr">
              <a:defRPr sz="15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575" b="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         </a:t>
            </a:r>
            <a:r>
              <a:rPr lang="en-IN" sz="1575" b="0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Sushant</a:t>
            </a:r>
            <a:r>
              <a:rPr lang="en-IN" sz="1575" b="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575" b="0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Pawar</a:t>
            </a:r>
            <a:r>
              <a:rPr lang="en-IN" sz="1575" b="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– 1262251598  </a:t>
            </a:r>
            <a:r>
              <a:rPr lang="en-IN" sz="1575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  </a:t>
            </a:r>
            <a:r>
              <a:rPr lang="en-IN" sz="1575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Chinmay</a:t>
            </a:r>
            <a:r>
              <a:rPr lang="en-IN" sz="1575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575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Bhole</a:t>
            </a:r>
            <a:r>
              <a:rPr lang="en-IN" sz="1575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- 1262252266</a:t>
            </a:r>
            <a:endParaRPr sz="1575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A0BBC233-AAC0-44C2-84CB-E2C2B90BE7A7}"/>
              </a:ext>
            </a:extLst>
          </p:cNvPr>
          <p:cNvSpPr>
            <a:spLocks noGrp="1"/>
          </p:cNvSpPr>
          <p:nvPr/>
        </p:nvSpPr>
        <p:spPr>
          <a:xfrm>
            <a:off x="523875" y="5095875"/>
            <a:ext cx="8096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Group </a:t>
            </a:r>
            <a:r>
              <a:rPr lang="en-IN" sz="15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7</a:t>
            </a:r>
            <a:r>
              <a:rPr sz="1500" b="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  Panel </a:t>
            </a:r>
            <a:r>
              <a:rPr lang="en-IN" sz="1500" b="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E</a:t>
            </a:r>
            <a:r>
              <a:rPr sz="1500" b="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  </a:t>
            </a:r>
            <a:r>
              <a:rPr sz="1500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Batch </a:t>
            </a:r>
            <a:r>
              <a:rPr lang="en-IN" sz="15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E1</a:t>
            </a:r>
            <a:endParaRPr sz="15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algn="ctr">
              <a:defRPr sz="15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500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Faculty: </a:t>
            </a:r>
            <a:r>
              <a:rPr lang="en-US" sz="1500" b="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Dr. Swati</a:t>
            </a:r>
            <a:endParaRPr lang="en-US" sz="15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algn="ctr">
              <a:defRPr sz="15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500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Academic Year: 2026–2027   </a:t>
            </a:r>
          </a:p>
          <a:p>
            <a:pPr algn="ctr">
              <a:defRPr sz="15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500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Presentation date: </a:t>
            </a:r>
            <a:r>
              <a:rPr lang="en-US" sz="1500" b="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22/10/26</a:t>
            </a:r>
            <a:endParaRPr lang="en-US" sz="15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9022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E88AF3E2-B0A1-48D7-8AAD-58C1AE49894A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Problem and Objectives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F4261110-3343-453F-B653-F85F3964BEA3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A4034558-8083-4762-B500-1F5F6BD4A1F3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40 seconds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0890C7E7-A87D-46AD-AD00-B0EB9B949268}"/>
              </a:ext>
            </a:extLst>
          </p:cNvPr>
          <p:cNvSpPr>
            <a:spLocks noGrp="1"/>
          </p:cNvSpPr>
          <p:nvPr/>
        </p:nvSpPr>
        <p:spPr>
          <a:xfrm>
            <a:off x="523875" y="1333500"/>
            <a:ext cx="8096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BE9F3CB5-0C0F-4AA1-99D5-8611CF4347DB}"/>
              </a:ext>
            </a:extLst>
          </p:cNvPr>
          <p:cNvSpPr>
            <a:spLocks noGrp="1"/>
          </p:cNvSpPr>
          <p:nvPr/>
        </p:nvSpPr>
        <p:spPr>
          <a:xfrm>
            <a:off x="523875" y="1809750"/>
            <a:ext cx="8096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just"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5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Real-world communication channels are inherently prone to transmission impairments—such as burst noise, electromagnetic interference, and line attenuation—that corrupt data packets in transit, leading to application crashes and silent data errors.   </a:t>
            </a:r>
          </a:p>
          <a:p>
            <a: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US" sz="150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algn="just"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5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Target users include computer engineering students, network administrators, and laboratory evaluators who need an interactive tool to study and demonstrate network data integrity protocols across client-router-proxy architectures.</a:t>
            </a:r>
            <a:endParaRPr sz="15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D4E77847-D504-4787-9F02-71CD2DC84C85}"/>
              </a:ext>
            </a:extLst>
          </p:cNvPr>
          <p:cNvSpPr>
            <a:spLocks noGrp="1"/>
          </p:cNvSpPr>
          <p:nvPr/>
        </p:nvSpPr>
        <p:spPr>
          <a:xfrm>
            <a:off x="523875" y="3640932"/>
            <a:ext cx="8096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80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Objectives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91E6E9D2-D950-4002-905E-A6DD5AE7B3CB}"/>
              </a:ext>
            </a:extLst>
          </p:cNvPr>
          <p:cNvSpPr>
            <a:spLocks noGrp="1"/>
          </p:cNvSpPr>
          <p:nvPr/>
        </p:nvSpPr>
        <p:spPr>
          <a:xfrm>
            <a:off x="476250" y="4007643"/>
            <a:ext cx="809625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marL="342900" indent="-342900" algn="just">
              <a:buFont typeface="+mj-lt"/>
              <a:buAutoNum type="arabicPeriod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5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Design and implement a </a:t>
            </a:r>
            <a:r>
              <a:rPr lang="en-IN" sz="15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PyQt</a:t>
            </a:r>
            <a:r>
              <a:rPr lang="en-IN" sz="15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-based multi-process desktop architecture (launcher.exe, client_app.exe, and router_proxy_app.exe) to manage live socket connections and process orchestration.   </a:t>
            </a:r>
          </a:p>
          <a:p>
            <a:pPr marL="342900" indent="-342900" algn="just">
              <a:buFont typeface="+mj-lt"/>
              <a:buAutoNum type="arabicPeriod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5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Develop functional modules for data integrity verification incorporating Hamming(7,4) encoding/decoding, CRC-32 checksums, and 1D/2D parity check matrices.   </a:t>
            </a:r>
          </a:p>
          <a:p>
            <a:pPr marL="342900" indent="-342900" algn="just">
              <a:buFont typeface="+mj-lt"/>
              <a:buAutoNum type="arabicPeriod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5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Package the application using </a:t>
            </a:r>
            <a:r>
              <a:rPr lang="en-IN" sz="15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PyInstaller</a:t>
            </a:r>
            <a:r>
              <a:rPr lang="en-IN" sz="15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into a standalone, portable distribution package and evaluate system resilience under induced error conditions</a:t>
            </a:r>
            <a:r>
              <a:rPr lang="en-IN" sz="15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.</a:t>
            </a:r>
          </a:p>
          <a:p>
            <a:pPr marL="342900" indent="-342900" algn="just">
              <a:buFont typeface="+mj-lt"/>
              <a:buAutoNum type="arabicPeriod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500" dirty="0"/>
              <a:t>Implement automated testing and real-time error injection frameworks to evaluate system resilience under simulated network faults and packet corruption.</a:t>
            </a:r>
            <a:endParaRPr sz="15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71186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DE2A7FE5-9330-404A-8834-8EE47CC698A1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Proposed Design and Tools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01186328-4620-4152-951C-0F6E0B69DF17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D6BB9F45-CBCF-467D-B76E-7FE236AFBDA0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45 seconds</a:t>
            </a:r>
          </a:p>
        </p:txBody>
      </p:sp>
      <p:pic>
        <p:nvPicPr>
          <p:cNvPr id="7" name="Picture 6" descr="C:\Users\ADMIN\AppData\Local\Packages\5319275A.WhatsAppDesktop_cv1g1gvanyjgm\LocalState\sessions\030F10B45D04551FC069E9B5037B9E71B4A4F5D2\transfers\2026-42\WhatsApp Image 2026-10-16 at 10.03.29 PM.jpeg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4288" y="1066800"/>
            <a:ext cx="4690872" cy="500481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TextBox 7"/>
          <p:cNvSpPr txBox="1"/>
          <p:nvPr/>
        </p:nvSpPr>
        <p:spPr>
          <a:xfrm>
            <a:off x="3038094" y="6007298"/>
            <a:ext cx="32232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Figure 2.1</a:t>
            </a:r>
            <a:r>
              <a:rPr lang="en-US" sz="1400" dirty="0"/>
              <a:t> Proposed architecture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2032430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28FCADAF-A2C0-470E-9C4F-96082F51573B}"/>
              </a:ext>
            </a:extLst>
          </p:cNvPr>
          <p:cNvSpPr>
            <a:spLocks noGrp="1"/>
          </p:cNvSpPr>
          <p:nvPr/>
        </p:nvSpPr>
        <p:spPr>
          <a:xfrm>
            <a:off x="523875" y="2069592"/>
            <a:ext cx="8096251" cy="3051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Tools:</a:t>
            </a:r>
            <a:r>
              <a:rPr lang="en-IN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Python 3.12.6, PyQt6 (v6.11.0), </a:t>
            </a:r>
            <a:r>
              <a:rPr lang="en-IN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PyInstaller</a:t>
            </a:r>
            <a:r>
              <a:rPr lang="en-IN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(v6.22.3), and Windows 10/11 (64-bit).   </a:t>
            </a:r>
            <a:endParaRPr lang="en-IN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IN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Protocols</a:t>
            </a:r>
            <a:r>
              <a:rPr lang="en-IN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: </a:t>
            </a:r>
            <a:r>
              <a:rPr lang="en-IN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TCP (Transmission Control Protocol) for reliable inter-process stream delivery and application-layer proxy interception.   </a:t>
            </a:r>
            <a:endParaRPr lang="en-IN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IN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Addressing</a:t>
            </a:r>
            <a:r>
              <a:rPr lang="en-IN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:</a:t>
            </a:r>
            <a:r>
              <a:rPr lang="en-IN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Loopback (127.0.0.1) or local LAN (192.168.x.x) subnet addresses, with the Router Proxy bound to port 5000.</a:t>
            </a:r>
            <a:endParaRPr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DE2A7FE5-9330-404A-8834-8EE47CC698A1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Proposed Design and Tools</a:t>
            </a:r>
          </a:p>
        </p:txBody>
      </p:sp>
    </p:spTree>
    <p:extLst>
      <p:ext uri="{BB962C8B-B14F-4D97-AF65-F5344CB8AC3E}">
        <p14:creationId xmlns:p14="http://schemas.microsoft.com/office/powerpoint/2010/main" val="1783118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79D9CBCB-0357-4DC8-A188-4C37277A96D4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Implementation and Working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A18AF794-E3C6-4991-A893-A5574F7F23BE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A5E311F0-B43D-4984-B7EF-5CED8D55A51E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55 seconds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251F08BF-264A-493B-909A-AB134824902B}"/>
              </a:ext>
            </a:extLst>
          </p:cNvPr>
          <p:cNvSpPr>
            <a:spLocks noGrp="1"/>
          </p:cNvSpPr>
          <p:nvPr/>
        </p:nvSpPr>
        <p:spPr>
          <a:xfrm>
            <a:off x="523875" y="1428750"/>
            <a:ext cx="8096250" cy="2143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950" b="0">
                <a:solidFill>
                  <a:srgbClr val="666666"/>
                </a:solidFill>
                <a:latin typeface="Arial"/>
                <a:ea typeface="Arial"/>
                <a:cs typeface="Arial"/>
              </a:defRPr>
            </a:pPr>
            <a:endParaRPr sz="1950" b="0" dirty="0">
              <a:solidFill>
                <a:srgbClr val="666666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71B6265A-7667-4F74-BB20-92A5B1B71102}"/>
              </a:ext>
            </a:extLst>
          </p:cNvPr>
          <p:cNvSpPr>
            <a:spLocks noGrp="1"/>
          </p:cNvSpPr>
          <p:nvPr/>
        </p:nvSpPr>
        <p:spPr>
          <a:xfrm>
            <a:off x="523875" y="4279141"/>
            <a:ext cx="8096250" cy="1571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Implementation: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Developed modular Python packages—</a:t>
            </a:r>
            <a:r>
              <a:rPr lang="en-IN" sz="14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gui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/ (</a:t>
            </a:r>
            <a:r>
              <a:rPr lang="en-IN" sz="14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PyQt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UI components), core/ (Hamming, CRC-32, Parity engines), and network/ (TCP socket handlers and router proxy logic).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IN" sz="140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Working: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Client encodes raw payload and transmits via TCP to Router Proxy; Proxy injects configurable bit-flips/burst noise; Receiver decrypts/decodes frame and verifies checksums.</a:t>
            </a:r>
          </a:p>
          <a:p>
            <a:pPr marL="285750" indent="-285750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IN" sz="140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Troubleshooting: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Socket Binding/Port Reuse Error (</a:t>
            </a:r>
            <a:r>
              <a:rPr lang="en-IN" sz="14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OSError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: [</a:t>
            </a:r>
            <a:r>
              <a:rPr lang="en-IN" sz="14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Errno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98]) — Resolved by setting SO_REUSEADDR flag on socket initialization to permit immediate port rebound upon proxy restart</a:t>
            </a:r>
            <a:endParaRPr sz="14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" name="Picture 6"/>
          <p:cNvPicPr/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54" r="3909" b="21559"/>
          <a:stretch/>
        </p:blipFill>
        <p:spPr bwMode="auto">
          <a:xfrm>
            <a:off x="1927860" y="1170622"/>
            <a:ext cx="5288280" cy="265938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1499616" y="3830002"/>
            <a:ext cx="69311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b="1" dirty="0"/>
              <a:t>Figure 3.1</a:t>
            </a:r>
            <a:r>
              <a:rPr lang="en-IN" sz="1400" dirty="0"/>
              <a:t> NECD Toolkit Message Sequence and Error-Injection </a:t>
            </a:r>
            <a:r>
              <a:rPr lang="en-IN" sz="1400" dirty="0" smtClean="0"/>
              <a:t>Workflow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4507837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C317C623-7343-44B1-AA4A-D1B4C258A90F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Testing and Results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F1B9A461-CBBC-4245-813A-D1367A360BC7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06353FE9-3343-4C54-947B-8EB6CA4BD4B2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50 seconds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5481" y="1449288"/>
            <a:ext cx="6955742" cy="303885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96014" y="4524719"/>
            <a:ext cx="67452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smtClean="0"/>
              <a:t>Figure: </a:t>
            </a:r>
            <a:r>
              <a:rPr lang="en-IN" sz="1400" dirty="0"/>
              <a:t>Router Proxy Traffic </a:t>
            </a:r>
            <a:r>
              <a:rPr lang="en-IN" sz="1400" dirty="0" smtClean="0"/>
              <a:t>Log — CRC-32 </a:t>
            </a:r>
            <a:r>
              <a:rPr lang="en-IN" sz="1400" dirty="0"/>
              <a:t>Payload Corruption &amp; Noise Injection</a:t>
            </a:r>
          </a:p>
        </p:txBody>
      </p:sp>
    </p:spTree>
    <p:extLst>
      <p:ext uri="{BB962C8B-B14F-4D97-AF65-F5344CB8AC3E}">
        <p14:creationId xmlns:p14="http://schemas.microsoft.com/office/powerpoint/2010/main" val="1214079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6EA10CA8-AA41-4067-AE19-358C75D267F6}"/>
              </a:ext>
            </a:extLst>
          </p:cNvPr>
          <p:cNvSpPr>
            <a:spLocks noGrp="1"/>
          </p:cNvSpPr>
          <p:nvPr/>
        </p:nvSpPr>
        <p:spPr>
          <a:xfrm>
            <a:off x="628445" y="4318874"/>
            <a:ext cx="809625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Test: </a:t>
            </a:r>
            <a:r>
              <a:rPr lang="en-US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Normal Operation (Hamming SEC): Input payload "HELLO" with Hamming(7,4) encoding selected and simulated bit errors injected by the Router Proxy.  </a:t>
            </a:r>
            <a:endParaRPr lang="en-US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4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</a:p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Expected</a:t>
            </a:r>
            <a:r>
              <a:rPr lang="en-US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:</a:t>
            </a:r>
            <a:r>
              <a:rPr lang="en-US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The receiver identifies error syndromes, automatically corrects single-bit errors across the blocks, and perfectly recovers the original payload "HELLO".   </a:t>
            </a:r>
            <a:endParaRPr lang="en-US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US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Observed</a:t>
            </a:r>
            <a:r>
              <a:rPr lang="en-US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: </a:t>
            </a:r>
            <a:r>
              <a:rPr lang="en-US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Single-bit errors were successfully isolated and corrected (4 errors corrected); the recovered message matched the original input exactly, as shown in the console logs.   </a:t>
            </a:r>
            <a:endParaRPr lang="en-US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US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Objectives </a:t>
            </a:r>
            <a:r>
              <a:rPr lang="en-US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achieved: </a:t>
            </a:r>
            <a:r>
              <a:rPr lang="en-US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Validated functional error-correction modules and real-time fault resilience under simulated network conditions (Objective O2 &amp; O4).</a:t>
            </a:r>
            <a:endParaRPr sz="14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2626" y="205722"/>
            <a:ext cx="8247888" cy="382922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316495" y="4034945"/>
            <a:ext cx="499870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Figure: </a:t>
            </a:r>
            <a:r>
              <a:rPr lang="en-US" sz="1400" dirty="0"/>
              <a:t>CRC-32 Checksum Verification and Error Detection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38004946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="" xmlns:a16="http://schemas.microsoft.com/office/drawing/2014/main" id="{3AB6F581-D019-4446-9B09-873266454C32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Working Demonstration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D9B7B2C0-778B-420B-9AC8-791FED994D01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B5A4A980-7EF8-4344-9A96-EEAF374C7B47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65 seconds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D61DD762-53EC-4E66-840B-4BC66B5F54C7}"/>
              </a:ext>
            </a:extLst>
          </p:cNvPr>
          <p:cNvSpPr>
            <a:spLocks noGrp="1"/>
          </p:cNvSpPr>
          <p:nvPr/>
        </p:nvSpPr>
        <p:spPr>
          <a:xfrm>
            <a:off x="523875" y="1428750"/>
            <a:ext cx="8096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875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02020"/>
                </a:solidFill>
                <a:latin typeface="Arial"/>
                <a:ea typeface="Arial"/>
                <a:cs typeface="Arial"/>
              </a:rPr>
              <a:t>Function to demonstrate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E7D0DFDA-9D38-4110-9E96-AA8B9885772D}"/>
              </a:ext>
            </a:extLst>
          </p:cNvPr>
          <p:cNvSpPr>
            <a:spLocks noGrp="1"/>
          </p:cNvSpPr>
          <p:nvPr/>
        </p:nvSpPr>
        <p:spPr>
          <a:xfrm>
            <a:off x="523875" y="1762125"/>
            <a:ext cx="80962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just"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6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Real-time </a:t>
            </a:r>
            <a:r>
              <a:rPr lang="en-US" sz="16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channel error injection, automated single-bit error detection, and Hamming(7,4) forward error correction across a multi-process TCP socket network.</a:t>
            </a:r>
            <a:endParaRPr sz="16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A981F47A-2B1A-4750-8E3C-EC82A2551A9A}"/>
              </a:ext>
            </a:extLst>
          </p:cNvPr>
          <p:cNvSpPr>
            <a:spLocks noGrp="1"/>
          </p:cNvSpPr>
          <p:nvPr/>
        </p:nvSpPr>
        <p:spPr>
          <a:xfrm>
            <a:off x="523875" y="2524125"/>
            <a:ext cx="809625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6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Steps:</a:t>
            </a:r>
            <a:endParaRPr lang="en-US" sz="16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6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Start </a:t>
            </a:r>
            <a:r>
              <a:rPr lang="en-US" sz="16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Router Proxy (router_proxy_app.exe) on port 5000 and launch/connect both Client A and Client B instances.   </a:t>
            </a:r>
            <a:endParaRPr lang="en-US" sz="16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US" sz="160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6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Select </a:t>
            </a:r>
            <a:r>
              <a:rPr lang="en-US" sz="16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Hamming(7,4) Correction, input the message payload "HELLO", and transmit the packet through the router proxy under active bit-flip noise simulation.   </a:t>
            </a:r>
            <a:endParaRPr lang="en-US" sz="16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>
              <a:buFont typeface="Arial" panose="020B0604020202020204" pitchFamily="34" charset="0"/>
              <a:buChar char="•"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US" sz="160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285750" indent="-285750" algn="just">
              <a:buFont typeface="Arial" panose="020B0604020202020204" pitchFamily="34" charset="0"/>
              <a:buChar char="•"/>
              <a:defRPr sz="19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6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Observe </a:t>
            </a:r>
            <a:r>
              <a:rPr lang="en-US" sz="16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the router traffic log detailing the injected bit errors, and examine the receiver console displaying the corrected blocks, total error count, and recovered message. </a:t>
            </a:r>
            <a:endParaRPr sz="16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23875" y="5167503"/>
            <a:ext cx="8048625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en-IN" sz="1600" b="1" dirty="0"/>
              <a:t>Success criterion: </a:t>
            </a:r>
            <a:r>
              <a:rPr lang="en-IN" sz="1600" dirty="0"/>
              <a:t>The receiving node successfully computes error syndromes, corrects corrupted bits, and renders the exact original plaintext message ("HELLO") on the GUI dashboard without data loss.</a:t>
            </a:r>
          </a:p>
        </p:txBody>
      </p:sp>
    </p:spTree>
    <p:extLst>
      <p:ext uri="{BB962C8B-B14F-4D97-AF65-F5344CB8AC3E}">
        <p14:creationId xmlns:p14="http://schemas.microsoft.com/office/powerpoint/2010/main" val="1232850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/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b="48957"/>
          <a:stretch/>
        </p:blipFill>
        <p:spPr bwMode="auto">
          <a:xfrm>
            <a:off x="2023777" y="206468"/>
            <a:ext cx="5318856" cy="2214442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" name="Picture 2"/>
          <p:cNvPicPr/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547"/>
          <a:stretch/>
        </p:blipFill>
        <p:spPr>
          <a:xfrm>
            <a:off x="696509" y="2574798"/>
            <a:ext cx="7973392" cy="374942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459736" y="6328374"/>
            <a:ext cx="715975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/>
              <a:t>Figure 4.1</a:t>
            </a:r>
            <a:r>
              <a:rPr lang="en-US" sz="1400" dirty="0"/>
              <a:t> Test execution output and live console </a:t>
            </a:r>
            <a:r>
              <a:rPr lang="en-US" sz="1400" dirty="0" smtClean="0"/>
              <a:t>logging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9950702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="" xmlns:a16="http://schemas.microsoft.com/office/drawing/2014/main" id="{D7465B80-86A3-4988-8BBF-D6C889F03087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Conclusion and Contributions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D35C3C1D-1A36-4479-B48D-72AED4C5126A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83033241-AA33-4209-9B79-B06A3DA63F84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30 seconds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5C4D24D5-8342-497C-8F27-E269BD6DACDB}"/>
              </a:ext>
            </a:extLst>
          </p:cNvPr>
          <p:cNvSpPr>
            <a:spLocks noGrp="1"/>
          </p:cNvSpPr>
          <p:nvPr/>
        </p:nvSpPr>
        <p:spPr>
          <a:xfrm>
            <a:off x="523875" y="902589"/>
            <a:ext cx="80962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just"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Outcome: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Successfully built and packaged a modular PyQt6 desktop toolkit with interactive router proxy interception, validating real-time CRC-32 error detection and Hamming(7,4) single-bit error correction across TCP sockets.   </a:t>
            </a:r>
            <a:endParaRPr lang="en-IN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IN" sz="9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algn="just"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Application</a:t>
            </a:r>
            <a:r>
              <a:rPr lang="en-IN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: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Interactive educational utility for networking laboratories to visualize data-link layer mechanics, forward error correction (FEC), and packet integrity under </a:t>
            </a:r>
            <a:r>
              <a:rPr lang="en-IN" sz="14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lossy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conditions.   </a:t>
            </a:r>
            <a:endParaRPr lang="en-IN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IN" sz="900" b="1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algn="just"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Limitation</a:t>
            </a:r>
            <a:r>
              <a:rPr lang="en-IN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: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Hamming(7,4) correction is strictly bounded to single-bit errors per nibble; multiple simultaneous bit-flips in a block result in </a:t>
            </a:r>
            <a:r>
              <a:rPr lang="en-IN" sz="14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uncorrectable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flags.   </a:t>
            </a:r>
            <a:endParaRPr lang="en-IN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endParaRPr lang="en-IN" sz="90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algn="just">
              <a:defRPr sz="18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Future </a:t>
            </a:r>
            <a:r>
              <a:rPr lang="en-IN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scope: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Integration of transport-layer Automatic Repeat </a:t>
            </a:r>
            <a:r>
              <a:rPr lang="en-IN" sz="14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reQuest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(ARQ) feedback loops (such as Stop-and-Wait) to handle </a:t>
            </a:r>
            <a:r>
              <a:rPr lang="en-IN" sz="1400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uncorrectable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packet retransmissions.</a:t>
            </a:r>
            <a:endParaRPr sz="14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="" xmlns:a16="http://schemas.microsoft.com/office/drawing/2014/main" id="{8A899F11-8A11-408E-A37B-1864BB168263}"/>
              </a:ext>
            </a:extLst>
          </p:cNvPr>
          <p:cNvSpPr>
            <a:spLocks noGrp="1"/>
          </p:cNvSpPr>
          <p:nvPr/>
        </p:nvSpPr>
        <p:spPr>
          <a:xfrm>
            <a:off x="523875" y="3405378"/>
            <a:ext cx="8096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Team contributions</a:t>
            </a:r>
            <a:r>
              <a:rPr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:</a:t>
            </a:r>
            <a:endParaRPr lang="en-IN" sz="1400" b="1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742950" lvl="1" indent="-285750" algn="just">
              <a:buFont typeface="Arial" panose="020B0604020202020204" pitchFamily="34" charset="0"/>
              <a:buChar char="•"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 err="1">
                <a:solidFill>
                  <a:srgbClr val="202020"/>
                </a:solidFill>
                <a:latin typeface="Arial"/>
                <a:ea typeface="Arial"/>
                <a:cs typeface="Arial"/>
              </a:rPr>
              <a:t>Vedant</a:t>
            </a:r>
            <a:r>
              <a:rPr lang="en-IN" sz="140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400" b="1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Bhosale</a:t>
            </a:r>
            <a:r>
              <a:rPr lang="en-IN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4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- System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architecture design, Router Proxy module engineering, and core error-control algorithm implementation.   </a:t>
            </a:r>
            <a:endParaRPr lang="en-IN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742950" lvl="1" indent="-285750" algn="just">
              <a:buFont typeface="Arial" panose="020B0604020202020204" pitchFamily="34" charset="0"/>
              <a:buChar char="•"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Riya Das </a:t>
            </a:r>
            <a:r>
              <a:rPr lang="en-IN" sz="14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- PyQt6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UI dashboard development, asynchronous socket signal/slot integration, and application state management.   </a:t>
            </a:r>
            <a:endParaRPr lang="en-IN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742950" lvl="1" indent="-285750" algn="just">
              <a:buFont typeface="Arial" panose="020B0604020202020204" pitchFamily="34" charset="0"/>
              <a:buChar char="•"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Sushant</a:t>
            </a:r>
            <a:r>
              <a:rPr lang="en-IN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400" b="1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Pawar</a:t>
            </a:r>
            <a:r>
              <a:rPr lang="en-IN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4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- End-Device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Client application development, packet framing/encoding logic, and loopback/LAN network testing.  </a:t>
            </a:r>
            <a:endParaRPr lang="en-IN" sz="1400" dirty="0" smtClean="0">
              <a:solidFill>
                <a:srgbClr val="202020"/>
              </a:solidFill>
              <a:latin typeface="Arial"/>
              <a:ea typeface="Arial"/>
              <a:cs typeface="Arial"/>
            </a:endParaRPr>
          </a:p>
          <a:p>
            <a:pPr marL="742950" lvl="1" indent="-285750" algn="just">
              <a:buFont typeface="Arial" panose="020B0604020202020204" pitchFamily="34" charset="0"/>
              <a:buChar char="•"/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IN" sz="1400" b="1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Chinmay</a:t>
            </a:r>
            <a:r>
              <a:rPr lang="en-IN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400" b="1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Bhole</a:t>
            </a:r>
            <a:r>
              <a:rPr lang="en-IN" sz="1400" b="1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4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- </a:t>
            </a:r>
            <a:r>
              <a:rPr lang="en-IN" sz="1400" dirty="0" err="1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PyInstaller</a:t>
            </a:r>
            <a:r>
              <a:rPr lang="en-IN" sz="1400" dirty="0" smtClean="0">
                <a:solidFill>
                  <a:srgbClr val="202020"/>
                </a:solidFill>
                <a:latin typeface="Arial"/>
                <a:ea typeface="Arial"/>
                <a:cs typeface="Arial"/>
              </a:rPr>
              <a:t> </a:t>
            </a:r>
            <a:r>
              <a:rPr lang="en-IN" sz="140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standalone compilation, cross-device deployment verification, and technical report/appendices compilation. </a:t>
            </a:r>
            <a:endParaRPr sz="1400" b="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2F10ECB7-8E0C-4D51-855A-3F114DB4BE40}"/>
              </a:ext>
            </a:extLst>
          </p:cNvPr>
          <p:cNvSpPr>
            <a:spLocks noGrp="1"/>
          </p:cNvSpPr>
          <p:nvPr/>
        </p:nvSpPr>
        <p:spPr>
          <a:xfrm>
            <a:off x="523875" y="5590413"/>
            <a:ext cx="809625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5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just">
              <a:defRPr sz="15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lang="en-US" sz="1400" dirty="0"/>
              <a:t>AI Use: Generative AI (Google Gemini) was used for language editing and documentation structuring; all technical content and test outcomes were verified against empirical logs.</a:t>
            </a:r>
            <a:endParaRPr sz="1400" dirty="0">
              <a:solidFill>
                <a:srgbClr val="20202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257213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="" xmlns:a16="http://schemas.microsoft.com/office/drawing/2014/main" id="{2B87E46F-E649-4EC2-BE15-E3DC1B512D09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0375C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="" xmlns:a16="http://schemas.microsoft.com/office/drawing/2014/main" id="{D28BC680-DAE1-4C4A-B29D-BFCE9D74EB15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="" xmlns:a16="http://schemas.microsoft.com/office/drawing/2014/main" id="{52937739-9035-4330-B6E1-0CD991043B34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Backup slide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="" xmlns:a16="http://schemas.microsoft.com/office/drawing/2014/main" id="{F08EAB2A-6F3A-412A-8E97-83E166768C45}"/>
              </a:ext>
            </a:extLst>
          </p:cNvPr>
          <p:cNvSpPr>
            <a:spLocks noGrp="1"/>
          </p:cNvSpPr>
          <p:nvPr/>
        </p:nvSpPr>
        <p:spPr>
          <a:xfrm>
            <a:off x="523875" y="1066800"/>
            <a:ext cx="8096250" cy="3048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8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[1] R. W. Hamming, "Error detecting and error correcting codes," </a:t>
            </a:r>
            <a:r>
              <a:rPr lang="en-IN" sz="1600" i="1" dirty="0">
                <a:latin typeface="Arial" panose="020B0604020202020204" pitchFamily="34" charset="0"/>
                <a:cs typeface="Arial" panose="020B0604020202020204" pitchFamily="34" charset="0"/>
              </a:rPr>
              <a:t>The Bell System Technical Journal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, vol. 29, no. 2, pp. 147–160, 1950</a:t>
            </a:r>
            <a:r>
              <a:rPr lang="en-IN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[2] W. W. Peterson and D. T. Brown, "Cyclic codes for error detection," </a:t>
            </a:r>
            <a:r>
              <a:rPr lang="en-IN" sz="1600" i="1" dirty="0">
                <a:latin typeface="Arial" panose="020B0604020202020204" pitchFamily="34" charset="0"/>
                <a:cs typeface="Arial" panose="020B0604020202020204" pitchFamily="34" charset="0"/>
              </a:rPr>
              <a:t>Proceedings of the IRE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, vol. 49, no. 1, pp. 228–235, 1961</a:t>
            </a:r>
            <a:r>
              <a:rPr lang="en-IN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[3] J. F. Kurose and K. W. Ross, </a:t>
            </a:r>
            <a:r>
              <a:rPr lang="en-IN" sz="1600" i="1" dirty="0">
                <a:latin typeface="Arial" panose="020B0604020202020204" pitchFamily="34" charset="0"/>
                <a:cs typeface="Arial" panose="020B0604020202020204" pitchFamily="34" charset="0"/>
              </a:rPr>
              <a:t>Computer Networking: A Top-Down Approach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, 8th ed. Pearson, 2020</a:t>
            </a:r>
            <a:r>
              <a:rPr lang="en-IN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[4] Python Software Foundation, "Python 3.12.6 Documentation," https://docs.python.org/3.12/ (accessed Oct. 16, 2026</a:t>
            </a:r>
            <a:r>
              <a:rPr lang="en-IN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[5] 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PyQt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Documentation Project, "PyQt6 Reference Guide," https://www.riverbankcomputing.com/static/Docs/PyQt6/ (accessed Oct. 16, 2026</a:t>
            </a:r>
            <a:r>
              <a:rPr lang="en-IN" sz="1600" dirty="0" smtClean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  <a:p>
            <a:endParaRPr lang="en-IN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[6] 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PyInstaller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Development Team, "</a:t>
            </a:r>
            <a:r>
              <a:rPr lang="en-IN" sz="1600" dirty="0" err="1">
                <a:latin typeface="Arial" panose="020B0604020202020204" pitchFamily="34" charset="0"/>
                <a:cs typeface="Arial" panose="020B0604020202020204" pitchFamily="34" charset="0"/>
              </a:rPr>
              <a:t>PyInstaller</a:t>
            </a:r>
            <a:r>
              <a:rPr lang="en-IN" sz="1600" dirty="0">
                <a:latin typeface="Arial" panose="020B0604020202020204" pitchFamily="34" charset="0"/>
                <a:cs typeface="Arial" panose="020B0604020202020204" pitchFamily="34" charset="0"/>
              </a:rPr>
              <a:t> Manual v6.x," https://pyinstaller.org/en/stable/ (accessed Oct. 16, 2026).</a:t>
            </a:r>
          </a:p>
        </p:txBody>
      </p:sp>
    </p:spTree>
    <p:extLst>
      <p:ext uri="{BB962C8B-B14F-4D97-AF65-F5344CB8AC3E}">
        <p14:creationId xmlns:p14="http://schemas.microsoft.com/office/powerpoint/2010/main" val="1399546708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1547</Words>
  <Application>Microsoft Office PowerPoint</Application>
  <DocSecurity>0</DocSecurity>
  <PresentationFormat>On-screen Show (4:3)</PresentationFormat>
  <Paragraphs>106</Paragraphs>
  <Slides>11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Aptos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</cp:lastModifiedBy>
  <cp:revision>16</cp:revision>
  <dcterms:created xsi:type="dcterms:W3CDTF">2026-10-14T10:56:48Z</dcterms:created>
  <dcterms:modified xsi:type="dcterms:W3CDTF">2026-10-21T14:55:06Z</dcterms:modified>
</cp:coreProperties>
</file>